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81"/>
  </p:normalViewPr>
  <p:slideViewPr>
    <p:cSldViewPr snapToGrid="0" snapToObjects="1">
      <p:cViewPr varScale="1">
        <p:scale>
          <a:sx n="107" d="100"/>
          <a:sy n="107" d="100"/>
        </p:scale>
        <p:origin x="166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Lithuania PV Production Financial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Market-Scaled Strategic Investment Evaluation (250 MW)</a:t>
            </a:r>
          </a:p>
          <a:p>
            <a:r>
              <a:t>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1. Baseline vs With-Project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898173"/>
              </p:ext>
            </p:extLst>
          </p:nvPr>
        </p:nvGraphicFramePr>
        <p:xfrm>
          <a:off x="169224" y="1888176"/>
          <a:ext cx="8805552" cy="38179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5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35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351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63583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Metric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Baseline (Outsource)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With-Project (Local)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3583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Supply Chain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High (Long lead times)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Low (Local control)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3583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Production Cost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Market Price + Margin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Internal Variable Cost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3583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Strategic 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Dependency on Imports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EU "Made in EU"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3583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CIT 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15%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0% (Klaipeda FEZ)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TEMPLATE 1 — Capacity &amp; ramp-up plan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3994400"/>
              </p:ext>
            </p:extLst>
          </p:nvPr>
        </p:nvGraphicFramePr>
        <p:xfrm>
          <a:off x="457200" y="2167247"/>
          <a:ext cx="8229600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 dirty="0"/>
                        <a:t>Year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Max capacity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Utilization %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Scrap %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Effective capacity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118.75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2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75.0%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4.0%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180.00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218.25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95.0%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2.0%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232.75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245.00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TEMPLATE 2 — Sales forecast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561240"/>
              </p:ext>
            </p:extLst>
          </p:nvPr>
        </p:nvGraphicFramePr>
        <p:xfrm>
          <a:off x="457200" y="2297875"/>
          <a:ext cx="8229600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Year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Units sold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Price (EUR/unit)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Revenue (EUR)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Justification (short)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118.75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126,000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14,962,500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Market entry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2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180.00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123,480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22,226,400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Growth phase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218.25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121,010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26,410,520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Scale reach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232.75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118,590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27,601,867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Maturity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116,218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28,473,505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Full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TEMPLATE 3 — Variable cost per unit breakdown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045227"/>
              </p:ext>
            </p:extLst>
          </p:nvPr>
        </p:nvGraphicFramePr>
        <p:xfrm>
          <a:off x="457200" y="1941616"/>
          <a:ext cx="8229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Component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Driver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Formula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EUR/unit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Source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Materials/ingredients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 err="1"/>
                        <a:t>LONGi</a:t>
                      </a:r>
                      <a:r>
                        <a:rPr sz="2000" dirty="0"/>
                        <a:t> HPBC 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80,700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LONGi 2025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Packaging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Export grade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Fixed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1,500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Logistics Spec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Direct labor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Lithuania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800h * 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VDI 2026 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Energy (if relevant)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Industrial 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0.18/kWh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2,500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Eurostat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Platform fee / other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Scrap Effect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Cost/(1-S)-C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1,998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Industry Std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TEMPLATE 4 — Incremental fixed costs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714028"/>
              </p:ext>
            </p:extLst>
          </p:nvPr>
        </p:nvGraphicFramePr>
        <p:xfrm>
          <a:off x="457200" y="1935480"/>
          <a:ext cx="8229600" cy="2987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Year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Maintenance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Extra staff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Rent/overhead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Other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Total fixed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384,000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2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432,000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288,000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96,000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384,000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384,000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432,000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288,000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96,000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384,000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384,000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TABLE TEMPLATE 5 — Project operating statement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964012"/>
              </p:ext>
            </p:extLst>
          </p:nvPr>
        </p:nvGraphicFramePr>
        <p:xfrm>
          <a:off x="182880" y="2057400"/>
          <a:ext cx="8778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4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54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403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Year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Units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Revenue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Variable costs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Contribution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Fixed costs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EBITDA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14,962,500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12,237,500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2,725,000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1,525,000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2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180.0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22,226,400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18,356,250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3,870,150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2,670,150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218.2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26,410,520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22,027,500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4,383,020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3,183,020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4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232.8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27,601,867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23,251,250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4,350,617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3,150,617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Year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245.0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28,473,505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24,475,000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3,998,505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2,798,505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TEMPLATE 6 — Break-even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9377911"/>
              </p:ext>
            </p:extLst>
          </p:nvPr>
        </p:nvGraphicFramePr>
        <p:xfrm>
          <a:off x="457200" y="137160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Item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Value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2000"/>
                        <a:t>Notes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Price (EUR/unit)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116,218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EUR/MW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Variable cost (EUR/unit)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99,898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EUR/MW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Contribution (EUR/unit)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16,320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Price - Var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Fixed costs (EUR/period)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1,200,000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Annual burden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Break-even units (Q_BE)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73.53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Fixed / Contrib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Break-even revenue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8,545,245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Q_BE x Price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Margin of safety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/>
                        <a:t>70.0%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2000" dirty="0"/>
                        <a:t>(Exp - Q_BE)/Exp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91440"/>
            <a:ext cx="9144000" cy="1143000"/>
          </a:xfrm>
        </p:spPr>
        <p:txBody>
          <a:bodyPr>
            <a:normAutofit fontScale="90000"/>
          </a:bodyPr>
          <a:lstStyle/>
          <a:p>
            <a:r>
              <a:rPr dirty="0"/>
              <a:t>TABLE TEMPLATE 7 — Assumptions &amp;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590707"/>
              </p:ext>
            </p:extLst>
          </p:nvPr>
        </p:nvGraphicFramePr>
        <p:xfrm>
          <a:off x="182880" y="1371600"/>
          <a:ext cx="877824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Assumption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Value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Unit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Source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Why reasonable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rPr sz="1800"/>
                        <a:t>Low/Base/High</a:t>
                      </a:r>
                    </a:p>
                  </a:txBody>
                  <a:tcPr>
                    <a:solidFill>
                      <a:srgbClr val="497C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Price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126,000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EUR/MW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LONGi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HPBC 2.0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Volume / demand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250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MW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Market study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Realistic domestic share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Ramp-up (utilization)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50%-100%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Project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Staged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Wage rate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16.50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EUR/h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VDI 2026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Lithuanian standard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Energy price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0.18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EUR/kWh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Eurostat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Baltic industrial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Scrap / yield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2% - 5%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%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Industry Std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Improving ramp-up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Base</a:t>
                      </a:r>
                    </a:p>
                  </a:txBody>
                  <a:tcPr>
                    <a:solidFill>
                      <a:srgbClr val="D9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Maintenance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432,000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EUR/yr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Vendor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/>
                        <a:t>Scaled for 250MW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/>
                      </a:pPr>
                      <a:r>
                        <a:rPr sz="1800" dirty="0"/>
                        <a:t>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97971"/>
            <a:ext cx="8686800" cy="1143000"/>
          </a:xfrm>
        </p:spPr>
        <p:txBody>
          <a:bodyPr/>
          <a:lstStyle/>
          <a:p>
            <a:r>
              <a:rPr dirty="0"/>
              <a:t>Financial Performance Visualizations</a:t>
            </a:r>
          </a:p>
        </p:txBody>
      </p:sp>
      <p:pic>
        <p:nvPicPr>
          <p:cNvPr id="3" name="Picture 2" descr="volume_ram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1589"/>
            <a:ext cx="9094518" cy="54567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A7C378-AAD2-A7E5-31B6-02D2BF05B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58DE1-0A52-F9E7-5C06-93026B4D9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7971"/>
            <a:ext cx="8686800" cy="1143000"/>
          </a:xfrm>
        </p:spPr>
        <p:txBody>
          <a:bodyPr/>
          <a:lstStyle/>
          <a:p>
            <a:r>
              <a:rPr dirty="0"/>
              <a:t>Financial Performance Visualizations</a:t>
            </a:r>
          </a:p>
        </p:txBody>
      </p:sp>
      <p:pic>
        <p:nvPicPr>
          <p:cNvPr id="4" name="Picture 3" descr="breakeven_chart.png">
            <a:extLst>
              <a:ext uri="{FF2B5EF4-FFF2-40B4-BE49-F238E27FC236}">
                <a16:creationId xmlns:a16="http://schemas.microsoft.com/office/drawing/2014/main" id="{742972EB-131D-48F4-3847-B590F15EC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7" y="1144780"/>
            <a:ext cx="8977745" cy="538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529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2621</TotalTime>
  <Words>557</Words>
  <Application>Microsoft Macintosh PowerPoint</Application>
  <PresentationFormat>全屏显示(4:3)</PresentationFormat>
  <Paragraphs>268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Lithuania PV Production Financial Plan</vt:lpstr>
      <vt:lpstr>1. Baseline vs With-Project summary</vt:lpstr>
      <vt:lpstr>TABLE TEMPLATE 1 — Capacity &amp; ramp-up plan</vt:lpstr>
      <vt:lpstr>TABLE TEMPLATE 2 — Sales forecast</vt:lpstr>
      <vt:lpstr>TABLE TEMPLATE 3 — Variable cost per unit breakdown</vt:lpstr>
      <vt:lpstr>TABLE TEMPLATE 4 — Incremental fixed costs</vt:lpstr>
      <vt:lpstr>TABLE TEMPLATE 5 — Project operating statement</vt:lpstr>
      <vt:lpstr>TABLE TEMPLATE 6 — Break-even</vt:lpstr>
      <vt:lpstr>TABLE TEMPLATE 7 — Assumptions &amp; Sources</vt:lpstr>
      <vt:lpstr>Financial Performance Visualizations</vt:lpstr>
      <vt:lpstr>Financial Performance Visualizations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Taowei Tang</cp:lastModifiedBy>
  <cp:revision>2</cp:revision>
  <dcterms:created xsi:type="dcterms:W3CDTF">2013-01-27T09:14:16Z</dcterms:created>
  <dcterms:modified xsi:type="dcterms:W3CDTF">2026-03-24T12:07:23Z</dcterms:modified>
  <cp:category/>
</cp:coreProperties>
</file>